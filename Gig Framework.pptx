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5"/>
    <p:sldId id="2147475365" r:id="rId6"/>
    <p:sldId id="2147472200" r:id="rId7"/>
    <p:sldId id="3013" r:id="rId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AE8C0A-8C09-9552-C23F-8EDB09BB1DB6}" name="Carly Ashley" initials="CA" userId="S::u293492@oshkoshglobal.com::ebcb8ed5-8350-4b21-abdc-5f2210636fa9" providerId="AD"/>
  <p188:author id="{60BD933F-0B50-6C86-35E4-C3A2950FBA9F}" name="Markie-Lee Buyze" initials="MB" userId="S::u280690@oshkoshglobal.com::cf8db92f-ad2f-4330-81b3-a23c5c6f51c4" providerId="AD"/>
  <p188:author id="{0AF08569-7CEF-F119-0ADC-0E61A013ECF5}" name="Cristi Burrill" initials="CB" userId="S::U294129@oshkoshglobal.com::f0d1b7de-8833-4778-87a1-fade22c692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583E"/>
    <a:srgbClr val="92BAC8"/>
    <a:srgbClr val="D9583E"/>
    <a:srgbClr val="AA9767"/>
    <a:srgbClr val="AA9721"/>
    <a:srgbClr val="AB3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0113A-4435-42D3-BE28-3EA1044EE29E}" v="1" dt="2023-04-05T16:18:16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640" autoAdjust="0"/>
  </p:normalViewPr>
  <p:slideViewPr>
    <p:cSldViewPr snapToGrid="0">
      <p:cViewPr varScale="1">
        <p:scale>
          <a:sx n="83" d="100"/>
          <a:sy n="83" d="100"/>
        </p:scale>
        <p:origin x="82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9E1760C-6B22-8E4E-B234-A96026EC72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47472" y="8494776"/>
            <a:ext cx="2633472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endParaRPr lang="en-US" sz="9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5E81267-1902-E04F-8048-41302A4017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6200" y="8494776"/>
            <a:ext cx="2633472" cy="27432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4B746F96-7298-4C41-9702-AB2501E73DEC}" type="slidenum">
              <a:rPr lang="en-US" sz="900" b="1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US" sz="9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003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472189"/>
            <a:ext cx="2743200" cy="1543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342900" y="2233534"/>
            <a:ext cx="6172200" cy="602604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342900" y="8494284"/>
            <a:ext cx="2628900" cy="27216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3884613" y="8494284"/>
            <a:ext cx="2628900" cy="27216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7F2F78A1-83DA-6648-8FD5-37C6D62DD5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3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57400" y="471488"/>
            <a:ext cx="2743200" cy="1543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F78A1-83DA-6648-8FD5-37C6D62DD5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34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52450" y="184150"/>
            <a:ext cx="4591050" cy="2582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23054" y="3035527"/>
            <a:ext cx="6764291" cy="1879773"/>
          </a:xfrm>
        </p:spPr>
        <p:txBody>
          <a:bodyPr/>
          <a:lstStyle/>
          <a:p>
            <a:endParaRPr lang="en-US" sz="1600" kern="12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2F78A1-83DA-6648-8FD5-37C6D62DD5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502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11375" y="479425"/>
            <a:ext cx="2787650" cy="1568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F78A1-83DA-6648-8FD5-37C6D62DD5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10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17738" y="495300"/>
            <a:ext cx="2879725" cy="1619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F78A1-83DA-6648-8FD5-37C6D62DD5C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83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>
            <a:extLst>
              <a:ext uri="{FF2B5EF4-FFF2-40B4-BE49-F238E27FC236}">
                <a16:creationId xmlns:a16="http://schemas.microsoft.com/office/drawing/2014/main" id="{0437BCFD-4BE6-2C42-885C-1BD67F4015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F769F2-3A11-624F-8BC1-07C03BAD5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128729" cy="1536700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793AAC-2B05-8544-B58F-4837D874F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726" y="3852869"/>
            <a:ext cx="6038644" cy="866042"/>
          </a:xfrm>
        </p:spPr>
        <p:txBody>
          <a:bodyPr anchor="b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pic>
        <p:nvPicPr>
          <p:cNvPr id="10" name="Picture" descr="Oshkosh logo">
            <a:extLst>
              <a:ext uri="{FF2B5EF4-FFF2-40B4-BE49-F238E27FC236}">
                <a16:creationId xmlns:a16="http://schemas.microsoft.com/office/drawing/2014/main" id="{81655761-94AA-B240-8F50-2013A509A2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18980" y="3728300"/>
            <a:ext cx="1441082" cy="10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29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(orange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>
            <a:extLst>
              <a:ext uri="{FF2B5EF4-FFF2-40B4-BE49-F238E27FC236}">
                <a16:creationId xmlns:a16="http://schemas.microsoft.com/office/drawing/2014/main" id="{B69B1AA7-8E81-CD4B-833C-5EFC8F941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F769F2-3A11-624F-8BC1-07C03BAD5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128729" cy="1536700"/>
          </a:xfrm>
        </p:spPr>
        <p:txBody>
          <a:bodyPr anchor="t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793AAC-2B05-8544-B58F-4837D874F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056" y="3849624"/>
            <a:ext cx="6035040" cy="868680"/>
          </a:xfrm>
        </p:spPr>
        <p:txBody>
          <a:bodyPr anchor="b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pic>
        <p:nvPicPr>
          <p:cNvPr id="9" name="Picture" descr="Oshkosh logo">
            <a:extLst>
              <a:ext uri="{FF2B5EF4-FFF2-40B4-BE49-F238E27FC236}">
                <a16:creationId xmlns:a16="http://schemas.microsoft.com/office/drawing/2014/main" id="{B0EA5CC5-2BC1-CC45-A83A-823B1B6576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3693" y="3723587"/>
            <a:ext cx="1444752" cy="11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0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(gray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>
            <a:extLst>
              <a:ext uri="{FF2B5EF4-FFF2-40B4-BE49-F238E27FC236}">
                <a16:creationId xmlns:a16="http://schemas.microsoft.com/office/drawing/2014/main" id="{EC3332A1-2B8B-4444-BABA-BA18868D8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F769F2-3A11-624F-8BC1-07C03BAD5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128729" cy="1536700"/>
          </a:xfrm>
        </p:spPr>
        <p:txBody>
          <a:bodyPr anchor="t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793AAC-2B05-8544-B58F-4837D874F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056" y="3849624"/>
            <a:ext cx="6035040" cy="868680"/>
          </a:xfrm>
        </p:spPr>
        <p:txBody>
          <a:bodyPr anchor="b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pic>
        <p:nvPicPr>
          <p:cNvPr id="7" name="Picture" descr="Oshkosh logo">
            <a:extLst>
              <a:ext uri="{FF2B5EF4-FFF2-40B4-BE49-F238E27FC236}">
                <a16:creationId xmlns:a16="http://schemas.microsoft.com/office/drawing/2014/main" id="{2416B33D-8613-8B4C-846B-B63398141F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3693" y="3723587"/>
            <a:ext cx="1444752" cy="11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56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(yellow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>
            <a:extLst>
              <a:ext uri="{FF2B5EF4-FFF2-40B4-BE49-F238E27FC236}">
                <a16:creationId xmlns:a16="http://schemas.microsoft.com/office/drawing/2014/main" id="{A7306553-60B8-EF40-AD35-D0AC3E3A6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F769F2-3A11-624F-8BC1-07C03BAD5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128729" cy="1536700"/>
          </a:xfrm>
        </p:spPr>
        <p:txBody>
          <a:bodyPr anchor="t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793AAC-2B05-8544-B58F-4837D874F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056" y="3849624"/>
            <a:ext cx="6035040" cy="868680"/>
          </a:xfrm>
        </p:spPr>
        <p:txBody>
          <a:bodyPr anchor="b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pic>
        <p:nvPicPr>
          <p:cNvPr id="7" name="Picture" descr="Oshkosh logo">
            <a:extLst>
              <a:ext uri="{FF2B5EF4-FFF2-40B4-BE49-F238E27FC236}">
                <a16:creationId xmlns:a16="http://schemas.microsoft.com/office/drawing/2014/main" id="{2F6784F1-23CC-874D-A69F-AE907CE551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3693" y="3723587"/>
            <a:ext cx="1444752" cy="11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6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(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>
            <a:extLst>
              <a:ext uri="{FF2B5EF4-FFF2-40B4-BE49-F238E27FC236}">
                <a16:creationId xmlns:a16="http://schemas.microsoft.com/office/drawing/2014/main" id="{986E1B5E-5849-F145-8E35-7D000F53D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F769F2-3A11-624F-8BC1-07C03BAD5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128729" cy="1536700"/>
          </a:xfrm>
        </p:spPr>
        <p:txBody>
          <a:bodyPr anchor="t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793AAC-2B05-8544-B58F-4837D874F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056" y="3849624"/>
            <a:ext cx="6035040" cy="868680"/>
          </a:xfrm>
        </p:spPr>
        <p:txBody>
          <a:bodyPr anchor="b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pic>
        <p:nvPicPr>
          <p:cNvPr id="7" name="Picture" descr="Oshkosh logo">
            <a:extLst>
              <a:ext uri="{FF2B5EF4-FFF2-40B4-BE49-F238E27FC236}">
                <a16:creationId xmlns:a16="http://schemas.microsoft.com/office/drawing/2014/main" id="{89FAC6EB-C0F5-D447-9253-7F90EBA37C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3693" y="3723587"/>
            <a:ext cx="1444752" cy="11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3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(dark green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>
            <a:extLst>
              <a:ext uri="{FF2B5EF4-FFF2-40B4-BE49-F238E27FC236}">
                <a16:creationId xmlns:a16="http://schemas.microsoft.com/office/drawing/2014/main" id="{90AB5950-EEB1-CC4C-BDA2-6B1B8B67CD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F769F2-3A11-624F-8BC1-07C03BAD5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128729" cy="1536700"/>
          </a:xfr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793AAC-2B05-8544-B58F-4837D874FB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8056" y="3849624"/>
            <a:ext cx="6035040" cy="868680"/>
          </a:xfrm>
        </p:spPr>
        <p:txBody>
          <a:bodyPr anchor="b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subtitle style</a:t>
            </a:r>
          </a:p>
        </p:txBody>
      </p:sp>
      <p:pic>
        <p:nvPicPr>
          <p:cNvPr id="7" name="Picture" descr="Oshkosh logo">
            <a:extLst>
              <a:ext uri="{FF2B5EF4-FFF2-40B4-BE49-F238E27FC236}">
                <a16:creationId xmlns:a16="http://schemas.microsoft.com/office/drawing/2014/main" id="{27CBB0CC-3ED7-704F-8FD7-5F7739A1C4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18980" y="3728300"/>
            <a:ext cx="1441082" cy="10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9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600"/>
            <a:ext cx="3898899" cy="3105140"/>
          </a:xfrm>
        </p:spPr>
        <p:txBody>
          <a:bodyPr/>
          <a:lstStyle>
            <a:lvl1pPr>
              <a:spcAft>
                <a:spcPts val="600"/>
              </a:spcAft>
              <a:defRPr sz="1500"/>
            </a:lvl1pPr>
            <a:lvl2pPr marL="0" indent="0">
              <a:spcAft>
                <a:spcPts val="600"/>
              </a:spcAft>
              <a:buNone/>
              <a:tabLst/>
              <a:defRPr/>
            </a:lvl2pPr>
            <a:lvl3pPr marL="0" indent="0">
              <a:spcAft>
                <a:spcPts val="600"/>
              </a:spcAft>
              <a:buNone/>
              <a:tabLst/>
              <a:defRPr/>
            </a:lvl3pPr>
            <a:lvl4pPr marL="0" indent="0">
              <a:spcAft>
                <a:spcPts val="600"/>
              </a:spcAft>
              <a:buNone/>
              <a:tabLst/>
              <a:defRPr/>
            </a:lvl4pPr>
            <a:lvl5pPr marL="0" indent="0">
              <a:spcAft>
                <a:spcPts val="600"/>
              </a:spcAft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56F8C-B498-5643-B595-E2832A842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820" y="1244599"/>
            <a:ext cx="3898900" cy="3105141"/>
          </a:xfrm>
        </p:spPr>
        <p:txBody>
          <a:bodyPr/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tabLst/>
              <a:defRPr sz="1500"/>
            </a:lvl1pPr>
            <a:lvl2pPr marL="0" indent="0">
              <a:spcAft>
                <a:spcPts val="600"/>
              </a:spcAft>
              <a:buNone/>
              <a:tabLst/>
              <a:defRPr/>
            </a:lvl2pPr>
            <a:lvl3pPr marL="0" indent="0">
              <a:spcAft>
                <a:spcPts val="600"/>
              </a:spcAft>
              <a:buNone/>
              <a:tabLst/>
              <a:defRPr/>
            </a:lvl3pPr>
            <a:lvl4pPr marL="0" indent="0">
              <a:spcAft>
                <a:spcPts val="600"/>
              </a:spcAft>
              <a:buNone/>
              <a:tabLst/>
              <a:defRPr/>
            </a:lvl4pPr>
            <a:lvl5pPr marL="0" indent="0">
              <a:spcAft>
                <a:spcPts val="600"/>
              </a:spcAft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F483310-B5DB-4B28-9347-579A0B4E13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059C251F-3B26-47E4-86AD-3C4A5C47B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D1B9AB5C-7372-438F-9DB1-F57100772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600"/>
            <a:ext cx="3898899" cy="310514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  <a:lvl2pPr marL="0" indent="0">
              <a:spcAft>
                <a:spcPts val="600"/>
              </a:spcAft>
              <a:buNone/>
              <a:tabLst/>
              <a:defRPr/>
            </a:lvl2pPr>
            <a:lvl3pPr marL="0" indent="0">
              <a:spcAft>
                <a:spcPts val="600"/>
              </a:spcAft>
              <a:buNone/>
              <a:tabLst/>
              <a:defRPr/>
            </a:lvl3pPr>
            <a:lvl4pPr marL="0" indent="0">
              <a:spcAft>
                <a:spcPts val="600"/>
              </a:spcAft>
              <a:buNone/>
              <a:tabLst/>
              <a:defRPr/>
            </a:lvl4pPr>
            <a:lvl5pPr marL="0" indent="0">
              <a:spcAft>
                <a:spcPts val="600"/>
              </a:spcAft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56F8C-B498-5643-B595-E2832A842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820" y="1244599"/>
            <a:ext cx="3898900" cy="3105141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  <a:lvl2pPr marL="0" indent="0">
              <a:spcAft>
                <a:spcPts val="600"/>
              </a:spcAft>
              <a:buNone/>
              <a:defRPr/>
            </a:lvl2pPr>
            <a:lvl3pPr marL="171450" indent="0">
              <a:spcAft>
                <a:spcPts val="600"/>
              </a:spcAft>
              <a:buNone/>
              <a:defRPr/>
            </a:lvl3pPr>
            <a:lvl4pPr marL="342900" indent="0">
              <a:spcAft>
                <a:spcPts val="600"/>
              </a:spcAft>
              <a:buNone/>
              <a:defRPr/>
            </a:lvl4pPr>
            <a:lvl5pPr marL="514350" indent="0">
              <a:spcAft>
                <a:spcPts val="6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C84490C-80B2-45F9-BD5C-E54FA61CF6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C40C37CF-7DF8-4D1A-87E3-9738BF83A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r>
              <a:rPr lang="en-US"/>
              <a:t>Section</a:t>
            </a:r>
          </a:p>
        </p:txBody>
      </p:sp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0F9EB76C-E41B-48A9-9021-E891B831E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599"/>
            <a:ext cx="6073774" cy="3105141"/>
          </a:xfrm>
        </p:spPr>
        <p:txBody>
          <a:bodyPr/>
          <a:lstStyle>
            <a:lvl1pPr>
              <a:spcAft>
                <a:spcPts val="200"/>
              </a:spcAft>
              <a:defRPr/>
            </a:lvl1pPr>
            <a:lvl2pPr>
              <a:spcBef>
                <a:spcPts val="2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416D8A8-BAF3-4BDB-8063-B14410BDB0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1074E124-4AEC-47AD-BF1D-95D5707FF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r>
              <a:rPr lang="en-US"/>
              <a:t>Section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B58EA75-0002-4314-BB60-BAAA25060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6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2-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600"/>
            <a:ext cx="3898899" cy="3105140"/>
          </a:xfrm>
        </p:spPr>
        <p:txBody>
          <a:bodyPr/>
          <a:lstStyle>
            <a:lvl1pPr>
              <a:defRPr sz="1500"/>
            </a:lvl1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56F8C-B498-5643-B595-E2832A842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82820" y="1244599"/>
            <a:ext cx="3898900" cy="3105141"/>
          </a:xfrm>
        </p:spPr>
        <p:txBody>
          <a:bodyPr/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0B88D3-0B9C-4228-8CDA-90C369DB56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6D73FBBC-ADF5-423B-B6B6-EBE17EC13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4B25F4AA-0AF6-4CB0-AC89-6E2256D67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3-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7" y="1244599"/>
            <a:ext cx="2606040" cy="310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56F8C-B498-5643-B595-E2832A842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65871" y="1244599"/>
            <a:ext cx="2606040" cy="3105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824BA2F-6624-F544-9F02-A3717D3809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4065" y="1244599"/>
            <a:ext cx="2606040" cy="3105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9B4BBF3-503F-4DD6-BBAE-5D7DEF564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19125195-D9D5-4432-8A95-B2AD024E3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A694A50-58AE-4555-B713-79F952150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46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4-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599"/>
            <a:ext cx="1808413" cy="310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56F8C-B498-5643-B595-E2832A842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71883" y="1244599"/>
            <a:ext cx="1808413" cy="3105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824BA2F-6624-F544-9F02-A3717D3809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4558" y="1244599"/>
            <a:ext cx="1808412" cy="3105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5EFBD69-B5F5-E545-BD11-C7E21C5C66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37232" y="1244599"/>
            <a:ext cx="1808412" cy="3105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9432580-820E-4EF2-B0BF-4909D1BC31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EB2D9CD-A62A-4895-B487-12D73F042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14692F73-F236-45EC-BE09-F50C62DB7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26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4-column stack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5" y="1244598"/>
            <a:ext cx="3898900" cy="1417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B56F8C-B498-5643-B595-E2832A8428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0018" y="1244598"/>
            <a:ext cx="3896782" cy="1417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824BA2F-6624-F544-9F02-A3717D3809A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0018" y="2929269"/>
            <a:ext cx="3914724" cy="1417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5EFBD69-B5F5-E545-BD11-C7E21C5C66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7675" y="2929269"/>
            <a:ext cx="3898902" cy="1417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4B691193-D56A-43ED-8382-C45566774B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6BE4FBEA-A0CC-434C-AEC0-BCA1D4EFB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9E87A8A1-0D0A-4787-9606-8C2BE3B58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81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19B3D407-BFD6-5749-83EE-08AEC1627A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47675" y="1244600"/>
            <a:ext cx="8239125" cy="310515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B6D61FC-B19C-46E7-B8CA-8DFA7F2D74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BCAF6A47-0CD1-4C42-B918-5418FCA66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D1642EB9-BDB8-4EAD-98CB-4B6252D25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77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7" y="1244599"/>
            <a:ext cx="1724024" cy="310514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19B3D407-BFD6-5749-83EE-08AEC1627A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625725" y="1244600"/>
            <a:ext cx="6061075" cy="310515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CE9FCE1-855C-48B8-9D12-A823E186D1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C6687EF3-B663-450E-B72A-EBF15A818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651106AF-A3E2-4B0E-ADF8-BC2C876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69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hart Placeholder">
            <a:extLst>
              <a:ext uri="{FF2B5EF4-FFF2-40B4-BE49-F238E27FC236}">
                <a16:creationId xmlns:a16="http://schemas.microsoft.com/office/drawing/2014/main" id="{92BFA5F3-BD83-A74A-BEB2-8B5437938C69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47675" y="1250820"/>
            <a:ext cx="8239125" cy="310515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23C9538-F504-4837-93A9-DF063D4762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B5216D3F-0804-4554-9DC1-DDC897804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A046A78-ED4B-4F5E-B5CA-75BE0855C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62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6" y="1244599"/>
            <a:ext cx="1724024" cy="310514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hart Placeholder">
            <a:extLst>
              <a:ext uri="{FF2B5EF4-FFF2-40B4-BE49-F238E27FC236}">
                <a16:creationId xmlns:a16="http://schemas.microsoft.com/office/drawing/2014/main" id="{92BFA5F3-BD83-A74A-BEB2-8B5437938C69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622549" y="1250820"/>
            <a:ext cx="6061075" cy="310515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02196A-4C6E-4DBE-A3E5-6994786189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CEF9F9B6-50AE-4F11-8818-384B82D29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450555EF-3FCC-482A-88FB-07DEA0526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full-bleed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436958"/>
            <a:ext cx="3914774" cy="5167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600"/>
            <a:ext cx="3898899" cy="310514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580A862C-BDB6-CC42-9B5D-8F14C120AC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ED278E-29F6-4202-B82E-E6675EB49E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2D8F2292-5C74-4F19-8FA6-702B5915F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1010" y="4590547"/>
            <a:ext cx="5375315" cy="149396"/>
          </a:xfrm>
          <a:prstGeom prst="rect">
            <a:avLst/>
          </a:prstGeom>
        </p:spPr>
        <p:txBody>
          <a:bodyPr/>
          <a:lstStyle>
            <a:lvl1pPr algn="l">
              <a:defRPr sz="800" b="1"/>
            </a:lvl1pPr>
          </a:lstStyle>
          <a:p>
            <a:endParaRPr lang="en-US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E350539F-B977-4CEF-9054-9453DCD18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61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full-bleed image on righ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436958"/>
            <a:ext cx="3914774" cy="5167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244600"/>
            <a:ext cx="3898899" cy="310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580A862C-BDB6-CC42-9B5D-8F14C120AC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  <a:solidFill>
            <a:schemeClr val="tx2"/>
          </a:solidFill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164471-7135-4863-930E-BA99A31882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E47522A7-8A21-40F7-A6F6-C42CCD1CB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1010" y="4590547"/>
            <a:ext cx="5375315" cy="149396"/>
          </a:xfrm>
          <a:prstGeom prst="rect">
            <a:avLst/>
          </a:prstGeom>
        </p:spPr>
        <p:txBody>
          <a:bodyPr/>
          <a:lstStyle>
            <a:lvl1pPr algn="l">
              <a:defRPr sz="800" b="1"/>
            </a:lvl1pPr>
          </a:lstStyle>
          <a:p>
            <a:endParaRPr lang="en-US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EA2BA791-DD3E-4C73-A5FA-52E999B44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80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(on full-bleed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580A862C-BDB6-CC42-9B5D-8F14C120AC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1435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367447"/>
            <a:ext cx="8322736" cy="3480653"/>
          </a:xfrm>
        </p:spPr>
        <p:txBody>
          <a:bodyPr/>
          <a:lstStyle>
            <a:lvl1pPr>
              <a:defRPr sz="8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F96EE707-9BCA-4F61-ADF8-867971BAD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/>
              <a:t>Section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392F0175-0DE2-47B6-AB8E-5A098309B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D5129C-8724-4A00-9B94-0892D06A29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9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367447"/>
            <a:ext cx="8322736" cy="3480653"/>
          </a:xfrm>
        </p:spPr>
        <p:txBody>
          <a:bodyPr/>
          <a:lstStyle>
            <a:lvl1pPr>
              <a:defRPr sz="8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D80E4EC4-CA53-C348-A399-61AA5E286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363C141-06BD-48D1-B131-D299B6EB9E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81F6FDE-C4C8-484A-BD39-E27F1773B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4AA06462-F013-470B-9DD8-D518C7AC1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36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367447"/>
            <a:ext cx="8322736" cy="3480653"/>
          </a:xfrm>
        </p:spPr>
        <p:txBody>
          <a:bodyPr/>
          <a:lstStyle>
            <a:lvl1pPr>
              <a:defRPr sz="8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0E910E29-10F4-0542-B204-B8317DBEF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86E73C9-3B60-494D-8431-A4680308F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9F504284-5764-4F4B-8010-0C1734208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bg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4" name="Slide Number Placeholder">
            <a:extLst>
              <a:ext uri="{FF2B5EF4-FFF2-40B4-BE49-F238E27FC236}">
                <a16:creationId xmlns:a16="http://schemas.microsoft.com/office/drawing/2014/main" id="{249844B1-1FE3-4E60-80F5-02B6D016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613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911720"/>
            <a:ext cx="3898899" cy="3330570"/>
          </a:xfrm>
        </p:spPr>
        <p:txBody>
          <a:bodyPr/>
          <a:lstStyle>
            <a:lvl1pPr>
              <a:spcAft>
                <a:spcPts val="600"/>
              </a:spcAft>
              <a:defRPr>
                <a:solidFill>
                  <a:schemeClr val="bg1"/>
                </a:solidFill>
              </a:defRPr>
            </a:lvl1pPr>
            <a:lvl2pPr marL="0" indent="0">
              <a:spcAft>
                <a:spcPts val="600"/>
              </a:spcAft>
              <a:buNone/>
              <a:tabLst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None/>
              <a:tabLst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600"/>
              </a:spcAft>
              <a:buNone/>
              <a:tabLst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600"/>
              </a:spcAft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D518F6-2222-46ED-BF45-3C49A3760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019A5855-1D8B-4A71-98C9-79C8303B8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bg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54345F15-121F-4A4F-9AD1-3BB258D23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31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911720"/>
            <a:ext cx="3898899" cy="3330570"/>
          </a:xfrm>
        </p:spPr>
        <p:txBody>
          <a:bodyPr/>
          <a:lstStyle>
            <a:lvl1pPr>
              <a:spcAft>
                <a:spcPts val="600"/>
              </a:spcAft>
              <a:defRPr/>
            </a:lvl1pPr>
            <a:lvl2pPr marL="0" indent="0">
              <a:spcAft>
                <a:spcPts val="600"/>
              </a:spcAft>
              <a:buNone/>
              <a:tabLst/>
              <a:defRPr/>
            </a:lvl2pPr>
            <a:lvl3pPr marL="0" indent="0">
              <a:spcAft>
                <a:spcPts val="600"/>
              </a:spcAft>
              <a:buNone/>
              <a:tabLst/>
              <a:defRPr/>
            </a:lvl3pPr>
            <a:lvl4pPr marL="0" indent="0">
              <a:spcAft>
                <a:spcPts val="600"/>
              </a:spcAft>
              <a:buNone/>
              <a:tabLst/>
              <a:defRPr/>
            </a:lvl4pPr>
            <a:lvl5pPr marL="0" indent="0">
              <a:spcAft>
                <a:spcPts val="600"/>
              </a:spcAft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C08A429-E7DD-4829-8ED3-6FF5195DCEEE}"/>
              </a:ext>
            </a:extLst>
          </p:cNvPr>
          <p:cNvSpPr txBox="1">
            <a:spLocks/>
          </p:cNvSpPr>
          <p:nvPr userDrawn="1"/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7FB1EF-B68C-4774-A676-04D8C69F2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6DC3D34-ACB6-4BF7-B25A-BC5F0BBD9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40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DCDC487-1B27-4223-B15B-35A7AC8C44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7E5A72C2-4FA8-4200-AF66-3AE31B3EF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816F2D82-8958-43B7-A66D-4DA7DE92E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9617E8E-E511-4190-9C0A-F920340260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00A51E9A-158A-4B26-B100-B82D5B32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3F1741E1-5EBB-4A86-A6E3-FB82B75B1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61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>
            <a:extLst>
              <a:ext uri="{FF2B5EF4-FFF2-40B4-BE49-F238E27FC236}">
                <a16:creationId xmlns:a16="http://schemas.microsoft.com/office/drawing/2014/main" id="{C6FFC167-938D-3C47-97BA-BF1ED20CD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1442431"/>
            <a:ext cx="8322736" cy="2258638"/>
          </a:xfrm>
        </p:spPr>
        <p:txBody>
          <a:bodyPr anchor="ctr"/>
          <a:lstStyle>
            <a:lvl1pPr>
              <a:lnSpc>
                <a:spcPct val="80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9E73BCD9-1638-104B-BE24-E72BEB09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A7843A0-F80E-410C-BEC2-D0978023B5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DC9123F0-E1B4-4ED7-A4A1-235AC8EFC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bg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27E8C8FB-2DE1-413F-906F-3DA74C009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880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(orange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>
            <a:extLst>
              <a:ext uri="{FF2B5EF4-FFF2-40B4-BE49-F238E27FC236}">
                <a16:creationId xmlns:a16="http://schemas.microsoft.com/office/drawing/2014/main" id="{D4ADB603-0D2E-8849-B3CB-D76C6EA1EF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1442431"/>
            <a:ext cx="8322736" cy="2258638"/>
          </a:xfrm>
        </p:spPr>
        <p:txBody>
          <a:bodyPr anchor="ctr"/>
          <a:lstStyle>
            <a:lvl1pPr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9E73BCD9-1638-104B-BE24-E72BEB09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3E5103C-31F4-4DA6-A18D-4AA46AA164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BD79B95B-D2BA-48BF-A9AA-C8B5B4065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6B98F865-796F-436B-8B31-640C6C312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442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(gray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>
            <a:extLst>
              <a:ext uri="{FF2B5EF4-FFF2-40B4-BE49-F238E27FC236}">
                <a16:creationId xmlns:a16="http://schemas.microsoft.com/office/drawing/2014/main" id="{50D11818-A422-7441-9044-D47092ABB1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1442431"/>
            <a:ext cx="8322736" cy="2258638"/>
          </a:xfrm>
        </p:spPr>
        <p:txBody>
          <a:bodyPr anchor="ctr"/>
          <a:lstStyle>
            <a:lvl1pPr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9E73BCD9-1638-104B-BE24-E72BEB09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9E5211B-AA35-438E-ACF6-19E65F5EBF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FEAB71A5-9617-45BE-B0C9-F50894015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7060D12A-C669-4145-95F4-151018864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836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(yellow)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>
            <a:extLst>
              <a:ext uri="{FF2B5EF4-FFF2-40B4-BE49-F238E27FC236}">
                <a16:creationId xmlns:a16="http://schemas.microsoft.com/office/drawing/2014/main" id="{1B5EBDCC-3BEA-B44A-BF11-F7C4A84DE6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1442431"/>
            <a:ext cx="8322736" cy="2258638"/>
          </a:xfrm>
        </p:spPr>
        <p:txBody>
          <a:bodyPr anchor="ctr"/>
          <a:lstStyle>
            <a:lvl1pPr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9E73BCD9-1638-104B-BE24-E72BEB09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95FCD1-56C6-4592-A99B-3AA405615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C19786A7-A2D2-401D-8CD6-F4D7FC4B3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endParaRPr lang="en-US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A49A37F8-F4A1-410F-B877-1E1A6548E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50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oin Breaker (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">
            <a:extLst>
              <a:ext uri="{FF2B5EF4-FFF2-40B4-BE49-F238E27FC236}">
                <a16:creationId xmlns:a16="http://schemas.microsoft.com/office/drawing/2014/main" id="{986E1B5E-5849-F145-8E35-7D000F53D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itle">
            <a:extLst>
              <a:ext uri="{FF2B5EF4-FFF2-40B4-BE49-F238E27FC236}">
                <a16:creationId xmlns:a16="http://schemas.microsoft.com/office/drawing/2014/main" id="{1032F536-387E-45AC-8AE6-EAC8FC71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1442431"/>
            <a:ext cx="8322736" cy="2258638"/>
          </a:xfrm>
        </p:spPr>
        <p:txBody>
          <a:bodyPr anchor="ctr"/>
          <a:lstStyle>
            <a:lvl1pPr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">
            <a:extLst>
              <a:ext uri="{FF2B5EF4-FFF2-40B4-BE49-F238E27FC236}">
                <a16:creationId xmlns:a16="http://schemas.microsoft.com/office/drawing/2014/main" id="{14EB6259-E827-4946-86E8-4A99F02B8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E48957CA-2087-41BC-9D08-8557C894B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D135E295-C9A6-499A-A20D-43EC1920F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4CA1C9-CCBC-4142-86C5-AA1EF70DC5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1801" y="4539635"/>
            <a:ext cx="711199" cy="30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111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(dark green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">
            <a:extLst>
              <a:ext uri="{FF2B5EF4-FFF2-40B4-BE49-F238E27FC236}">
                <a16:creationId xmlns:a16="http://schemas.microsoft.com/office/drawing/2014/main" id="{6D3D60E8-8B1E-AB48-9E84-EB39C00E2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4" y="1123935"/>
            <a:ext cx="8322736" cy="2258638"/>
          </a:xfrm>
        </p:spPr>
        <p:txBody>
          <a:bodyPr anchor="ctr"/>
          <a:lstStyle>
            <a:lvl1pPr>
              <a:lnSpc>
                <a:spcPct val="80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9E73BCD9-1638-104B-BE24-E72BEB09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525267"/>
            <a:ext cx="823912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D5B6112-CD3C-41C9-898D-E4581BE5D5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618" y="4535209"/>
            <a:ext cx="754362" cy="323298"/>
          </a:xfrm>
          <a:prstGeom prst="rect">
            <a:avLst/>
          </a:prstGeom>
        </p:spPr>
      </p:pic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14A9E871-9414-478B-898F-612665E51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E37F3F94-18DB-4EC8-8F70-94E425644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>
                <a:solidFill>
                  <a:schemeClr val="bg1"/>
                </a:solidFill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782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0E90C24-AB1C-4E68-B695-39E02DDADB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0634570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7" imgH="288" progId="TCLayout.ActiveDocument.1">
                  <p:embed/>
                </p:oleObj>
              </mc:Choice>
              <mc:Fallback>
                <p:oleObj name="think-cell Slide" r:id="rId4" imgW="287" imgH="28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0E90C24-AB1C-4E68-B695-39E02DDAD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302D202B-E6FC-4966-8AF0-CA74A641916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158750" cy="15875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>
              <a:buFont typeface="Arial" panose="020B0604020202020204" pitchFamily="34" charset="0"/>
              <a:buNone/>
            </a:pPr>
            <a:endParaRPr lang="en-US" sz="2400" b="1" i="0" baseline="0"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04DD717-84A3-8249-A132-38BA4926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2" y="193146"/>
            <a:ext cx="6089650" cy="30284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D5AA903-925E-D746-8A5F-6F64D50FF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756922"/>
            <a:ext cx="8248650" cy="3105140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500"/>
            </a:lvl1pPr>
            <a:lvl2pPr marL="0" indent="0">
              <a:spcAft>
                <a:spcPts val="600"/>
              </a:spcAft>
              <a:buNone/>
              <a:tabLst/>
              <a:defRPr/>
            </a:lvl2pPr>
            <a:lvl3pPr marL="0" indent="0">
              <a:spcAft>
                <a:spcPts val="600"/>
              </a:spcAft>
              <a:buNone/>
              <a:tabLst/>
              <a:defRPr/>
            </a:lvl3pPr>
            <a:lvl4pPr marL="0" indent="0">
              <a:spcAft>
                <a:spcPts val="600"/>
              </a:spcAft>
              <a:buNone/>
              <a:tabLst/>
              <a:defRPr/>
            </a:lvl4pPr>
            <a:lvl5pPr marL="0" indent="0">
              <a:spcAft>
                <a:spcPts val="600"/>
              </a:spcAft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9F8BBE82-3A5D-FF42-9442-C238319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4836400"/>
            <a:ext cx="82391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F483310-B5DB-4B28-9347-579A0B4E13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2908" b="14638"/>
          <a:stretch/>
        </p:blipFill>
        <p:spPr>
          <a:xfrm>
            <a:off x="431803" y="4890138"/>
            <a:ext cx="711199" cy="220979"/>
          </a:xfrm>
          <a:prstGeom prst="rect">
            <a:avLst/>
          </a:prstGeom>
        </p:spPr>
      </p:pic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059C251F-3B26-47E4-86AD-3C4A5C47B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77330" y="4936914"/>
            <a:ext cx="2389341" cy="146304"/>
          </a:xfrm>
          <a:prstGeom prst="rect">
            <a:avLst/>
          </a:prstGeom>
        </p:spPr>
        <p:txBody>
          <a:bodyPr anchor="ctr"/>
          <a:lstStyle>
            <a:lvl1pPr algn="ctr">
              <a:defRPr lang="en-US" smtClean="0"/>
            </a:lvl1pPr>
          </a:lstStyle>
          <a:p>
            <a:r>
              <a:rPr lang="en-US"/>
              <a:t>2020</a:t>
            </a:r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D1B9AB5C-7372-438F-9DB1-F57100772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936915"/>
            <a:ext cx="2057400" cy="149396"/>
          </a:xfrm>
          <a:prstGeom prst="rect">
            <a:avLst/>
          </a:prstGeom>
        </p:spPr>
        <p:txBody>
          <a:bodyPr anchor="ctr"/>
          <a:lstStyle>
            <a:lvl1pPr algn="r">
              <a:defRPr sz="800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1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1FAED7A7-B2E0-A74A-A52D-73145882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1" y="436958"/>
            <a:ext cx="6089650" cy="585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051E65C3-8435-6542-B65D-F1A625F6F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76" y="1244600"/>
            <a:ext cx="6073774" cy="31051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F30B6136-DEEF-4AC5-970D-9768EC231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7676" y="4590547"/>
            <a:ext cx="8248650" cy="149396"/>
          </a:xfrm>
          <a:prstGeom prst="rect">
            <a:avLst/>
          </a:prstGeom>
        </p:spPr>
        <p:txBody>
          <a:bodyPr/>
          <a:lstStyle>
            <a:lvl1pPr>
              <a:defRPr sz="800" b="1"/>
            </a:lvl1pPr>
          </a:lstStyle>
          <a:p>
            <a:pPr algn="ctr"/>
            <a:r>
              <a:rPr lang="en-US"/>
              <a:t>Section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02BFE9E6-6B02-471B-A07B-D60DA63DF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  <a:prstGeom prst="rect">
            <a:avLst/>
          </a:prstGeom>
        </p:spPr>
        <p:txBody>
          <a:bodyPr/>
          <a:lstStyle>
            <a:lvl1pPr algn="r">
              <a:defRPr sz="800" b="1"/>
            </a:lvl1pPr>
          </a:lstStyle>
          <a:p>
            <a:fld id="{9AFCC87D-200F-914C-9EBF-3D397A540D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MSIPCMContentMarking" descr="{&quot;HashCode&quot;:-2053298915,&quot;Placement&quot;:&quot;Header&quot;,&quot;Top&quot;:0.0,&quot;Left&quot;:251.752365,&quot;SlideWidth&quot;:720,&quot;SlideHeight&quot;:405}">
            <a:extLst>
              <a:ext uri="{FF2B5EF4-FFF2-40B4-BE49-F238E27FC236}">
                <a16:creationId xmlns:a16="http://schemas.microsoft.com/office/drawing/2014/main" id="{F9B7687D-0119-4F1C-8F34-095F3E767038}"/>
              </a:ext>
            </a:extLst>
          </p:cNvPr>
          <p:cNvSpPr txBox="1"/>
          <p:nvPr userDrawn="1"/>
        </p:nvSpPr>
        <p:spPr>
          <a:xfrm>
            <a:off x="3197255" y="0"/>
            <a:ext cx="2749489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Oshkosh Corporation Classification - Restricted</a:t>
            </a:r>
          </a:p>
        </p:txBody>
      </p:sp>
    </p:spTree>
    <p:extLst>
      <p:ext uri="{BB962C8B-B14F-4D97-AF65-F5344CB8AC3E}">
        <p14:creationId xmlns:p14="http://schemas.microsoft.com/office/powerpoint/2010/main" val="54941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8" r:id="rId3"/>
    <p:sldLayoutId id="2147483656" r:id="rId4"/>
    <p:sldLayoutId id="2147483655" r:id="rId5"/>
    <p:sldLayoutId id="2147483652" r:id="rId6"/>
    <p:sldLayoutId id="2147483660" r:id="rId7"/>
    <p:sldLayoutId id="2147483661" r:id="rId8"/>
    <p:sldLayoutId id="2147483650" r:id="rId9"/>
    <p:sldLayoutId id="2147483659" r:id="rId10"/>
    <p:sldLayoutId id="2147483682" r:id="rId11"/>
    <p:sldLayoutId id="2147483662" r:id="rId12"/>
    <p:sldLayoutId id="2147483685" r:id="rId13"/>
    <p:sldLayoutId id="2147483679" r:id="rId14"/>
    <p:sldLayoutId id="2147483678" r:id="rId15"/>
    <p:sldLayoutId id="2147483681" r:id="rId16"/>
    <p:sldLayoutId id="2147483680" r:id="rId17"/>
    <p:sldLayoutId id="2147483663" r:id="rId18"/>
    <p:sldLayoutId id="2147483671" r:id="rId19"/>
    <p:sldLayoutId id="2147483664" r:id="rId20"/>
    <p:sldLayoutId id="2147483669" r:id="rId21"/>
    <p:sldLayoutId id="2147483670" r:id="rId22"/>
    <p:sldLayoutId id="2147483687" r:id="rId23"/>
    <p:sldLayoutId id="2147483686" r:id="rId24"/>
    <p:sldLayoutId id="2147483683" r:id="rId25"/>
    <p:sldLayoutId id="2147483684" r:id="rId26"/>
    <p:sldLayoutId id="2147483676" r:id="rId27"/>
    <p:sldLayoutId id="2147483672" r:id="rId28"/>
    <p:sldLayoutId id="2147483673" r:id="rId29"/>
    <p:sldLayoutId id="2147483674" r:id="rId30"/>
    <p:sldLayoutId id="2147483688" r:id="rId31"/>
    <p:sldLayoutId id="2147483677" r:id="rId32"/>
    <p:sldLayoutId id="2147483690" r:id="rId33"/>
  </p:sldLayoutIdLst>
  <p:hf hd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171450" indent="-17145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85000"/>
        <a:buFont typeface="Wingdings" pitchFamily="2" charset="2"/>
        <a:buChar char="§"/>
        <a:defRPr sz="1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342900" indent="-171450" algn="l" defTabSz="685800" rtl="0" eaLnBrk="1" latinLnBrk="0" hangingPunct="1">
        <a:lnSpc>
          <a:spcPct val="100000"/>
        </a:lnSpc>
        <a:spcBef>
          <a:spcPts val="200"/>
        </a:spcBef>
        <a:spcAft>
          <a:spcPts val="300"/>
        </a:spcAft>
        <a:buSzPct val="85000"/>
        <a:buFont typeface="Wingdings" pitchFamily="2" charset="2"/>
        <a:buChar char="§"/>
        <a:defRPr sz="11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514350" indent="-171450" algn="l" defTabSz="685800" rtl="0" eaLnBrk="1" latinLnBrk="0" hangingPunct="1">
        <a:lnSpc>
          <a:spcPct val="100000"/>
        </a:lnSpc>
        <a:spcBef>
          <a:spcPts val="200"/>
        </a:spcBef>
        <a:spcAft>
          <a:spcPts val="300"/>
        </a:spcAft>
        <a:buSzPct val="85000"/>
        <a:buFont typeface="Wingdings" pitchFamily="2" charset="2"/>
        <a:buChar char="§"/>
        <a:defRPr sz="1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685800" indent="-171450" algn="l" defTabSz="685800" rtl="0" eaLnBrk="1" latinLnBrk="0" hangingPunct="1">
        <a:lnSpc>
          <a:spcPct val="100000"/>
        </a:lnSpc>
        <a:spcBef>
          <a:spcPts val="200"/>
        </a:spcBef>
        <a:spcAft>
          <a:spcPts val="300"/>
        </a:spcAft>
        <a:buSzPct val="85000"/>
        <a:buFont typeface="Wingdings" pitchFamily="2" charset="2"/>
        <a:buChar char="§"/>
        <a:defRPr sz="9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738" userDrawn="1">
          <p15:clr>
            <a:srgbClr val="F26B43"/>
          </p15:clr>
        </p15:guide>
        <p15:guide id="4" pos="5472" userDrawn="1">
          <p15:clr>
            <a:srgbClr val="F26B43"/>
          </p15:clr>
        </p15:guide>
        <p15:guide id="5" pos="4108" userDrawn="1">
          <p15:clr>
            <a:srgbClr val="F26B43"/>
          </p15:clr>
        </p15:guide>
        <p15:guide id="6" pos="4252" userDrawn="1">
          <p15:clr>
            <a:srgbClr val="F26B43"/>
          </p15:clr>
        </p15:guide>
        <p15:guide id="7" pos="4392" userDrawn="1">
          <p15:clr>
            <a:srgbClr val="F26B43"/>
          </p15:clr>
        </p15:guide>
        <p15:guide id="8" pos="3022" userDrawn="1">
          <p15:clr>
            <a:srgbClr val="F26B43"/>
          </p15:clr>
        </p15:guide>
        <p15:guide id="9" pos="1368" userDrawn="1">
          <p15:clr>
            <a:srgbClr val="F26B43"/>
          </p15:clr>
        </p15:guide>
        <p15:guide id="11" pos="1512" userDrawn="1">
          <p15:clr>
            <a:srgbClr val="F26B43"/>
          </p15:clr>
        </p15:guide>
        <p15:guide id="12" pos="288" userDrawn="1">
          <p15:clr>
            <a:srgbClr val="F26B43"/>
          </p15:clr>
        </p15:guide>
        <p15:guide id="13" orient="horz" pos="292" userDrawn="1">
          <p15:clr>
            <a:srgbClr val="F26B43"/>
          </p15:clr>
        </p15:guide>
        <p15:guide id="14" orient="horz" pos="602" userDrawn="1">
          <p15:clr>
            <a:srgbClr val="F26B43"/>
          </p15:clr>
        </p15:guide>
        <p15:guide id="15" orient="horz" pos="814" userDrawn="1">
          <p15:clr>
            <a:srgbClr val="F26B43"/>
          </p15:clr>
        </p15:guide>
        <p15:guide id="16" orient="horz" pos="1218" userDrawn="1">
          <p15:clr>
            <a:srgbClr val="F26B43"/>
          </p15:clr>
        </p15:guide>
        <p15:guide id="17" orient="horz" pos="2022" userDrawn="1">
          <p15:clr>
            <a:srgbClr val="F26B43"/>
          </p15:clr>
        </p15:guide>
        <p15:guide id="18" orient="horz" pos="2424" userDrawn="1">
          <p15:clr>
            <a:srgbClr val="F26B43"/>
          </p15:clr>
        </p15:guide>
        <p15:guide id="19" orient="horz" pos="2950" userDrawn="1">
          <p15:clr>
            <a:srgbClr val="F26B43"/>
          </p15:clr>
        </p15:guide>
        <p15:guide id="21" orient="horz" pos="2740" userDrawn="1">
          <p15:clr>
            <a:srgbClr val="F26B43"/>
          </p15:clr>
        </p15:guide>
        <p15:guide id="22" pos="16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11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2.bin"/><Relationship Id="rId10" Type="http://schemas.microsoft.com/office/2007/relationships/hdphoto" Target="../media/hdphoto1.wdp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emf"/><Relationship Id="rId10" Type="http://schemas.openxmlformats.org/officeDocument/2006/relationships/image" Target="../media/image22.sv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46E4F2-637D-DE4E-B4EF-10AE25F40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721" y="396875"/>
            <a:ext cx="6649347" cy="1536700"/>
          </a:xfrm>
        </p:spPr>
        <p:txBody>
          <a:bodyPr/>
          <a:lstStyle/>
          <a:p>
            <a:r>
              <a:rPr lang="en-US"/>
              <a:t>Workday Career Hub</a:t>
            </a:r>
            <a:br>
              <a:rPr lang="en-US"/>
            </a:br>
            <a:r>
              <a:rPr lang="en-US"/>
              <a:t>Internal Gigs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70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1F383BB-1930-0090-4ACD-D8007B6AC999}"/>
              </a:ext>
            </a:extLst>
          </p:cNvPr>
          <p:cNvSpPr/>
          <p:nvPr/>
        </p:nvSpPr>
        <p:spPr>
          <a:xfrm>
            <a:off x="0" y="-1084"/>
            <a:ext cx="9144000" cy="51435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D8A39B-2BCB-0EB8-BA9E-B5ED4E3D97A9}"/>
              </a:ext>
            </a:extLst>
          </p:cNvPr>
          <p:cNvSpPr/>
          <p:nvPr/>
        </p:nvSpPr>
        <p:spPr>
          <a:xfrm>
            <a:off x="5226148" y="0"/>
            <a:ext cx="3917852" cy="5143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200" dirty="0">
                <a:latin typeface="+mj-lt"/>
              </a:rPr>
              <a:t>Gigs are </a:t>
            </a:r>
            <a:r>
              <a:rPr lang="en-US" sz="1200" b="1" dirty="0">
                <a:latin typeface="+mj-lt"/>
              </a:rPr>
              <a:t>not</a:t>
            </a:r>
            <a:r>
              <a:rPr lang="en-US" sz="1200" dirty="0">
                <a:latin typeface="+mj-lt"/>
              </a:rPr>
              <a:t> full-time or part-time job placements but can still be done during business hours. They are not intended to interfere with team members’ jobs and are not included in year-end performance reviews. Gigs are not compensated, nor do they cause monetary compensation changes. 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EE8B4A2-2EEA-4E25-B3E4-74799DDD6C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38" imgH="338" progId="TCLayout.ActiveDocument.1">
                  <p:embed/>
                </p:oleObj>
              </mc:Choice>
              <mc:Fallback>
                <p:oleObj name="think-cell Slide" r:id="rId5" imgW="338" imgH="33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EE8B4A2-2EEA-4E25-B3E4-74799DDD6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C3DB0A3-B3A4-415D-B110-A6C01121906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" y="1"/>
            <a:ext cx="158750" cy="15875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766">
              <a:defRPr/>
            </a:pPr>
            <a:endParaRPr lang="en-US" sz="2400" b="1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1B16F-A771-4F3B-9304-28473AE20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766">
              <a:defRPr/>
            </a:pPr>
            <a:fld id="{9AFCC87D-200F-914C-9EBF-3D397A540D0D}" type="slidenum">
              <a:rPr lang="en-US">
                <a:solidFill>
                  <a:srgbClr val="000000"/>
                </a:solidFill>
                <a:latin typeface="Calibri" panose="020F0502020204030204"/>
              </a:rPr>
              <a:pPr defTabSz="685766">
                <a:defRPr/>
              </a:pPr>
              <a:t>2</a:t>
            </a:fld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Oval 6">
            <a:extLst>
              <a:ext uri="{FF2B5EF4-FFF2-40B4-BE49-F238E27FC236}">
                <a16:creationId xmlns:a16="http://schemas.microsoft.com/office/drawing/2014/main" id="{C9DD1A40-EEF9-4DCA-992B-197741828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641" y="514350"/>
            <a:ext cx="7358657" cy="35433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defTabSz="685766">
              <a:defRPr/>
            </a:pPr>
            <a:endParaRPr lang="en-US" sz="1013">
              <a:solidFill>
                <a:srgbClr val="000000"/>
              </a:solidFill>
              <a:latin typeface="Calibri Light" panose="020F0302020204030204"/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D692912E-35D5-4851-830F-E13A7266D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006" y="3536289"/>
            <a:ext cx="2569562" cy="1140200"/>
          </a:xfrm>
          <a:prstGeom prst="rect">
            <a:avLst/>
          </a:prstGeom>
          <a:solidFill>
            <a:schemeClr val="bg2"/>
          </a:solidFill>
          <a:ln>
            <a:noFill/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>
            <a:flatTx/>
          </a:bodyPr>
          <a:lstStyle/>
          <a:p>
            <a:pPr defTabSz="685766" eaLnBrk="0" hangingPunct="0">
              <a:defRPr/>
            </a:pPr>
            <a:r>
              <a:rPr lang="en-US" sz="1500" b="1" dirty="0">
                <a:solidFill>
                  <a:schemeClr val="accent1"/>
                </a:solidFill>
                <a:ea typeface="ヒラギノ角ゴ Pro W3"/>
                <a:cs typeface="ヒラギノ角ゴ Pro W3"/>
              </a:rPr>
              <a:t>BENEFITS</a:t>
            </a:r>
          </a:p>
          <a:p>
            <a:pPr defTabSz="685766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Calibri Light" panose="020F0302020204030204"/>
                <a:ea typeface="ヒラギノ角ゴ Pro W3"/>
                <a:cs typeface="ヒラギノ角ゴ Pro W3"/>
              </a:rPr>
              <a:t>Flexibility and access to new opportunities that best align with goals and interests. </a:t>
            </a: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F952FFE3-E77E-41A5-9B85-7FDDC8472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6885" y="2265541"/>
            <a:ext cx="2577804" cy="105727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>
            <a:flatTx/>
          </a:bodyPr>
          <a:lstStyle/>
          <a:p>
            <a:pPr defTabSz="685766" eaLnBrk="0" hangingPunct="0">
              <a:defRPr/>
            </a:pPr>
            <a:r>
              <a:rPr lang="en-US" sz="1500" b="1" dirty="0">
                <a:solidFill>
                  <a:schemeClr val="accent4"/>
                </a:solidFill>
                <a:ea typeface="ヒラギノ角ゴ Pro W3"/>
                <a:cs typeface="ヒラギノ角ゴ Pro W3"/>
              </a:rPr>
              <a:t>UPSKILL INTERNAL TALENT</a:t>
            </a:r>
            <a:endParaRPr lang="en-US" sz="1500" dirty="0">
              <a:solidFill>
                <a:schemeClr val="accent4"/>
              </a:solidFill>
              <a:ea typeface="ヒラギノ角ゴ Pro W3"/>
              <a:cs typeface="ヒラギノ角ゴ Pro W3"/>
            </a:endParaRPr>
          </a:p>
          <a:p>
            <a:pPr defTabSz="685766" eaLnBrk="0" hangingPunct="0">
              <a:defRPr/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Develop team member skills while also meeting critical business needs.</a:t>
            </a:r>
            <a:endParaRPr lang="en-US" sz="1400" dirty="0">
              <a:solidFill>
                <a:schemeClr val="tx1"/>
              </a:solidFill>
              <a:latin typeface="+mj-lt"/>
              <a:ea typeface="ヒラギノ角ゴ Pro W3"/>
              <a:cs typeface="ヒラギノ角ゴ Pro W3"/>
            </a:endParaRPr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AF913DC8-B5E3-4438-B1C5-FE2C39230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430" y="930891"/>
            <a:ext cx="2252045" cy="105727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>
            <a:flatTx/>
          </a:bodyPr>
          <a:lstStyle/>
          <a:p>
            <a:pPr defTabSz="685766" eaLnBrk="0" hangingPunct="0">
              <a:defRPr/>
            </a:pPr>
            <a:r>
              <a:rPr lang="en-US" sz="1500" b="1" dirty="0">
                <a:solidFill>
                  <a:schemeClr val="accent5"/>
                </a:solidFill>
                <a:ea typeface="ヒラギノ角ゴ Pro W3"/>
                <a:cs typeface="ヒラギノ角ゴ Pro W3"/>
              </a:rPr>
              <a:t>TECHNOLOGY PLATFORM</a:t>
            </a:r>
          </a:p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connects team members with gig opportunities inside the organization, leveraging internal talents.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8F4479-A19A-53A9-1663-CB00AFC027DD}"/>
              </a:ext>
            </a:extLst>
          </p:cNvPr>
          <p:cNvSpPr/>
          <p:nvPr/>
        </p:nvSpPr>
        <p:spPr>
          <a:xfrm>
            <a:off x="7943171" y="1419947"/>
            <a:ext cx="138564" cy="19620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783">
              <a:defRPr/>
            </a:pPr>
            <a:endParaRPr lang="en-US" sz="825">
              <a:ln w="0"/>
              <a:solidFill>
                <a:srgbClr val="00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Calibri" panose="020F0502020204030204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AD0F6CE-6FD2-396A-96B7-24AABCAB3865}"/>
              </a:ext>
            </a:extLst>
          </p:cNvPr>
          <p:cNvSpPr txBox="1">
            <a:spLocks/>
          </p:cNvSpPr>
          <p:nvPr/>
        </p:nvSpPr>
        <p:spPr>
          <a:xfrm>
            <a:off x="510183" y="296955"/>
            <a:ext cx="6089650" cy="585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8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b="1" dirty="0">
                <a:latin typeface="Calibri Light"/>
                <a:cs typeface="Calibri Light"/>
              </a:rPr>
              <a:t>Internal Gig Marketplace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E8589F-5CC0-3263-0B4E-790E0B9EBD09}"/>
              </a:ext>
            </a:extLst>
          </p:cNvPr>
          <p:cNvSpPr txBox="1"/>
          <p:nvPr/>
        </p:nvSpPr>
        <p:spPr>
          <a:xfrm>
            <a:off x="5344524" y="2908142"/>
            <a:ext cx="1456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200" b="1" dirty="0">
                <a:latin typeface="+mj-lt"/>
              </a:rPr>
              <a:t>WHAT GIGS ARE NOT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2520D5-3A8C-3213-012E-57EC61A907CE}"/>
              </a:ext>
            </a:extLst>
          </p:cNvPr>
          <p:cNvSpPr txBox="1"/>
          <p:nvPr/>
        </p:nvSpPr>
        <p:spPr>
          <a:xfrm>
            <a:off x="5326097" y="1179970"/>
            <a:ext cx="115845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200" b="1" dirty="0">
                <a:latin typeface="+mj-lt"/>
              </a:rPr>
              <a:t>WHAT GIGS ARE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B44CDD-9BAE-AE66-42F0-AF5F6D84152D}"/>
              </a:ext>
            </a:extLst>
          </p:cNvPr>
          <p:cNvCxnSpPr>
            <a:cxnSpLocks/>
          </p:cNvCxnSpPr>
          <p:nvPr/>
        </p:nvCxnSpPr>
        <p:spPr>
          <a:xfrm>
            <a:off x="5428913" y="3206413"/>
            <a:ext cx="3492843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0" name="Picture 2">
            <a:extLst>
              <a:ext uri="{FF2B5EF4-FFF2-40B4-BE49-F238E27FC236}">
                <a16:creationId xmlns:a16="http://schemas.microsoft.com/office/drawing/2014/main" id="{A8B47CC6-18F7-A205-3A67-7536D7B82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60" y="698712"/>
            <a:ext cx="1371412" cy="137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28FD7C-828F-8B00-3E4D-AC3556007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0" y="2286000"/>
            <a:ext cx="1039063" cy="103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A4F520-9BF4-A685-EA46-FC6607734D28}"/>
              </a:ext>
            </a:extLst>
          </p:cNvPr>
          <p:cNvCxnSpPr>
            <a:cxnSpLocks/>
          </p:cNvCxnSpPr>
          <p:nvPr/>
        </p:nvCxnSpPr>
        <p:spPr>
          <a:xfrm>
            <a:off x="5410485" y="1515762"/>
            <a:ext cx="3492843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D2A16F6-E4CC-F5A5-3146-2B5C66DA75FF}"/>
              </a:ext>
            </a:extLst>
          </p:cNvPr>
          <p:cNvSpPr txBox="1"/>
          <p:nvPr/>
        </p:nvSpPr>
        <p:spPr>
          <a:xfrm>
            <a:off x="5363574" y="1597655"/>
            <a:ext cx="35397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latin typeface="+mj-lt"/>
              </a:rPr>
              <a:t>Short-term experiences or project-based opportunities that promote skill sharing or skill development. Team members can share expertise with others or learn new skills that tap into their interests. </a:t>
            </a:r>
          </a:p>
          <a:p>
            <a:pPr algn="l"/>
            <a:endParaRPr lang="en-US" sz="1200" dirty="0">
              <a:latin typeface="+mj-lt"/>
            </a:endParaRPr>
          </a:p>
          <a:p>
            <a:pPr algn="l"/>
            <a:endParaRPr lang="en-US" sz="1200" dirty="0">
              <a:latin typeface="+mj-lt"/>
            </a:endParaRPr>
          </a:p>
          <a:p>
            <a:pPr algn="l"/>
            <a:endParaRPr lang="en-US" sz="1200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2AEF6A-7781-4103-A15F-B87620356D87}"/>
              </a:ext>
            </a:extLst>
          </p:cNvPr>
          <p:cNvSpPr txBox="1"/>
          <p:nvPr/>
        </p:nvSpPr>
        <p:spPr>
          <a:xfrm>
            <a:off x="5344524" y="3257286"/>
            <a:ext cx="35772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latin typeface="+mj-lt"/>
              </a:rPr>
              <a:t>Are not full-time or part-time job placements but can still be done during business hours. They are not intended to interfere with team members’ jobs and should not negatively </a:t>
            </a:r>
            <a:r>
              <a:rPr lang="en-US" sz="1200">
                <a:latin typeface="+mj-lt"/>
              </a:rPr>
              <a:t>impact the </a:t>
            </a:r>
            <a:r>
              <a:rPr lang="en-US" sz="1200" dirty="0">
                <a:latin typeface="+mj-lt"/>
              </a:rPr>
              <a:t>year-end performance reviews. They are not compensated, nor do they cause monetary compensation changes.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0E98F60-FEC6-4154-AC8D-832760AF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21" y="3700896"/>
            <a:ext cx="1353362" cy="87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89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3DB25564-70F6-4906-8514-FE437DF1B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592634"/>
            <a:ext cx="2057400" cy="149396"/>
          </a:xfrm>
        </p:spPr>
        <p:txBody>
          <a:bodyPr/>
          <a:lstStyle/>
          <a:p>
            <a:fld id="{9AFCC87D-200F-914C-9EBF-3D397A540D0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524EA7-94E7-D05E-E6A9-B2DE89407B22}"/>
              </a:ext>
            </a:extLst>
          </p:cNvPr>
          <p:cNvSpPr txBox="1">
            <a:spLocks/>
          </p:cNvSpPr>
          <p:nvPr/>
        </p:nvSpPr>
        <p:spPr>
          <a:xfrm>
            <a:off x="427786" y="298969"/>
            <a:ext cx="8371092" cy="4248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1" dirty="0"/>
              <a:t>Workday Gig Setup 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9B38286-62A3-0903-7FFE-7C9C2403E109}"/>
              </a:ext>
            </a:extLst>
          </p:cNvPr>
          <p:cNvSpPr txBox="1">
            <a:spLocks/>
          </p:cNvSpPr>
          <p:nvPr/>
        </p:nvSpPr>
        <p:spPr>
          <a:xfrm>
            <a:off x="2621448" y="1623957"/>
            <a:ext cx="4683120" cy="747065"/>
          </a:xfrm>
          <a:prstGeom prst="rect">
            <a:avLst/>
          </a:prstGeom>
        </p:spPr>
        <p:txBody>
          <a:bodyPr numCol="2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3429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51435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6858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Strategic Initiative or Project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Committee Involvement or Special Activity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Critical Business Need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5ACA8A-042B-0F49-0A38-2C11CC0BAF60}"/>
              </a:ext>
            </a:extLst>
          </p:cNvPr>
          <p:cNvSpPr/>
          <p:nvPr/>
        </p:nvSpPr>
        <p:spPr>
          <a:xfrm>
            <a:off x="716821" y="1581402"/>
            <a:ext cx="2025651" cy="704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400" dirty="0">
                <a:solidFill>
                  <a:schemeClr val="tx1"/>
                </a:solidFill>
              </a:rPr>
              <a:t>Gig Categories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74BDE01-285C-EE7F-9EE8-4688E1EA923B}"/>
              </a:ext>
            </a:extLst>
          </p:cNvPr>
          <p:cNvSpPr txBox="1">
            <a:spLocks/>
          </p:cNvSpPr>
          <p:nvPr/>
        </p:nvSpPr>
        <p:spPr>
          <a:xfrm>
            <a:off x="505049" y="1601240"/>
            <a:ext cx="423545" cy="6652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56670E-792D-4639-FB81-B4DEE6002A07}"/>
              </a:ext>
            </a:extLst>
          </p:cNvPr>
          <p:cNvSpPr/>
          <p:nvPr/>
        </p:nvSpPr>
        <p:spPr>
          <a:xfrm>
            <a:off x="716821" y="2557301"/>
            <a:ext cx="2025651" cy="704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400" dirty="0">
                <a:solidFill>
                  <a:schemeClr val="tx1"/>
                </a:solidFill>
              </a:rPr>
              <a:t>Gig Types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80A44D8A-0A6D-88C5-70DF-017B34CF74D9}"/>
              </a:ext>
            </a:extLst>
          </p:cNvPr>
          <p:cNvSpPr txBox="1">
            <a:spLocks/>
          </p:cNvSpPr>
          <p:nvPr/>
        </p:nvSpPr>
        <p:spPr>
          <a:xfrm>
            <a:off x="505049" y="2577139"/>
            <a:ext cx="423545" cy="6652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B933D7-C97F-F9CF-16E1-0C9DE3EEC8CF}"/>
              </a:ext>
            </a:extLst>
          </p:cNvPr>
          <p:cNvSpPr/>
          <p:nvPr/>
        </p:nvSpPr>
        <p:spPr>
          <a:xfrm>
            <a:off x="716822" y="3555576"/>
            <a:ext cx="1904626" cy="7049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400" dirty="0">
                <a:solidFill>
                  <a:schemeClr val="tx1"/>
                </a:solidFill>
              </a:rPr>
              <a:t>Creating Gigs 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B8CFC5D9-C128-9FA7-6EB9-E64038F053F4}"/>
              </a:ext>
            </a:extLst>
          </p:cNvPr>
          <p:cNvSpPr txBox="1">
            <a:spLocks/>
          </p:cNvSpPr>
          <p:nvPr/>
        </p:nvSpPr>
        <p:spPr>
          <a:xfrm>
            <a:off x="505049" y="3575414"/>
            <a:ext cx="423545" cy="6652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SzPct val="85000"/>
              <a:buFont typeface="Wingdings" pitchFamily="2" charset="2"/>
              <a:buNone/>
              <a:tabLst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229037-6001-0009-C473-E1037EE17C58}"/>
              </a:ext>
            </a:extLst>
          </p:cNvPr>
          <p:cNvCxnSpPr>
            <a:cxnSpLocks/>
          </p:cNvCxnSpPr>
          <p:nvPr/>
        </p:nvCxnSpPr>
        <p:spPr>
          <a:xfrm>
            <a:off x="427786" y="2410611"/>
            <a:ext cx="82857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4FC0FB7-F73C-C5A7-CEF0-F320DAAEDFCD}"/>
              </a:ext>
            </a:extLst>
          </p:cNvPr>
          <p:cNvCxnSpPr>
            <a:cxnSpLocks/>
          </p:cNvCxnSpPr>
          <p:nvPr/>
        </p:nvCxnSpPr>
        <p:spPr>
          <a:xfrm>
            <a:off x="427786" y="3413172"/>
            <a:ext cx="830194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3">
            <a:extLst>
              <a:ext uri="{FF2B5EF4-FFF2-40B4-BE49-F238E27FC236}">
                <a16:creationId xmlns:a16="http://schemas.microsoft.com/office/drawing/2014/main" id="{FAC1C9B9-6D10-ED3E-706E-9C068B51E1C9}"/>
              </a:ext>
            </a:extLst>
          </p:cNvPr>
          <p:cNvSpPr txBox="1">
            <a:spLocks/>
          </p:cNvSpPr>
          <p:nvPr/>
        </p:nvSpPr>
        <p:spPr>
          <a:xfrm>
            <a:off x="2621448" y="2626810"/>
            <a:ext cx="4683120" cy="747065"/>
          </a:xfrm>
          <a:prstGeom prst="rect">
            <a:avLst/>
          </a:prstGeom>
        </p:spPr>
        <p:txBody>
          <a:bodyPr numCol="2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3429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51435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6858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&lt;1 month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1 – 3 months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3 – 6 months 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6 – 9 months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9 – 12 months </a:t>
            </a:r>
          </a:p>
        </p:txBody>
      </p:sp>
      <p:sp>
        <p:nvSpPr>
          <p:cNvPr id="51" name="Content Placeholder 3">
            <a:extLst>
              <a:ext uri="{FF2B5EF4-FFF2-40B4-BE49-F238E27FC236}">
                <a16:creationId xmlns:a16="http://schemas.microsoft.com/office/drawing/2014/main" id="{B7295F7F-CC60-FC89-066C-197FEED221A4}"/>
              </a:ext>
            </a:extLst>
          </p:cNvPr>
          <p:cNvSpPr txBox="1">
            <a:spLocks/>
          </p:cNvSpPr>
          <p:nvPr/>
        </p:nvSpPr>
        <p:spPr>
          <a:xfrm>
            <a:off x="2621448" y="3679876"/>
            <a:ext cx="4683120" cy="747065"/>
          </a:xfrm>
          <a:prstGeom prst="rect">
            <a:avLst/>
          </a:prstGeom>
        </p:spPr>
        <p:txBody>
          <a:bodyPr numCol="2"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3429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51435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6858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Title &amp; Description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Gig Category &amp; Type 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Start &amp; End Date or Ongoing 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Skills needed 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Availability Expected (hrs/wk)</a:t>
            </a:r>
          </a:p>
          <a:p>
            <a:pPr marL="171450" indent="-171450" defTabSz="609585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dk1"/>
                </a:solidFill>
              </a:rPr>
              <a:t>Number of team members needed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C6900C-1A10-25A3-DB98-136A4276CFC6}"/>
              </a:ext>
            </a:extLst>
          </p:cNvPr>
          <p:cNvSpPr/>
          <p:nvPr/>
        </p:nvSpPr>
        <p:spPr>
          <a:xfrm>
            <a:off x="3341077" y="44641"/>
            <a:ext cx="2491154" cy="209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sz="120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FC96A-E40B-86E9-9559-30461914F4D0}"/>
              </a:ext>
            </a:extLst>
          </p:cNvPr>
          <p:cNvSpPr txBox="1"/>
          <p:nvPr/>
        </p:nvSpPr>
        <p:spPr>
          <a:xfrm>
            <a:off x="475143" y="1029110"/>
            <a:ext cx="8176973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solidFill>
                <a:schemeClr val="bg2"/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B9F6CE7-24C0-661B-0C0D-75071B683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178" y="1439852"/>
            <a:ext cx="735149" cy="73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65F6EFB-5E47-1C51-0327-91FE89FFB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515" y="2449909"/>
            <a:ext cx="954068" cy="95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470B5F9-CB14-3647-08FD-11A05A121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276" y="3426549"/>
            <a:ext cx="989184" cy="98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94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881D50-809A-49AF-919B-5D42BDA10B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881D50-809A-49AF-919B-5D42BDA10B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58CA48-5D10-48CC-B2F8-637FFD229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78" y="4103171"/>
            <a:ext cx="2057400" cy="149396"/>
          </a:xfrm>
        </p:spPr>
        <p:txBody>
          <a:bodyPr/>
          <a:lstStyle/>
          <a:p>
            <a:fld id="{9AFCC87D-200F-914C-9EBF-3D397A540D0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724BF6D4-20CD-458E-90AA-7746C0B3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03" y="251287"/>
            <a:ext cx="8264525" cy="336560"/>
          </a:xfrm>
        </p:spPr>
        <p:txBody>
          <a:bodyPr vert="horz"/>
          <a:lstStyle/>
          <a:p>
            <a:r>
              <a:rPr lang="en-US">
                <a:latin typeface="+mj-lt"/>
              </a:rPr>
              <a:t>Gig Process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BFDFC5-C73F-4354-A244-2F25C6F1F7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86295" y="2180414"/>
            <a:ext cx="1323974" cy="1631780"/>
          </a:xfrm>
          <a:ln>
            <a:noFill/>
          </a:ln>
        </p:spPr>
        <p:txBody>
          <a:bodyPr/>
          <a:lstStyle/>
          <a:p>
            <a:pPr marL="171450" indent="-171450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Team member reviews gig opportunities.</a:t>
            </a:r>
          </a:p>
          <a:p>
            <a:pPr marL="171450" indent="-171450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Submits request to express interest through Workday to participate.</a:t>
            </a:r>
          </a:p>
          <a:p>
            <a:pPr>
              <a:spcBef>
                <a:spcPts val="0"/>
              </a:spcBef>
              <a:spcAft>
                <a:spcPts val="225"/>
              </a:spcAft>
            </a:pPr>
            <a:endParaRPr lang="en-US" sz="1000" dirty="0">
              <a:latin typeface="+mj-lt"/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7FF4E94-1E33-4A8F-8B41-0FE4B26F11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62995" y="2196903"/>
            <a:ext cx="1411856" cy="1631780"/>
          </a:xfrm>
        </p:spPr>
        <p:txBody>
          <a:bodyPr/>
          <a:lstStyle/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Host communicates with all team members who express interest.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Screen/interview as needed for gig opportunity.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Once participants have been identified, confirm and outline clear expectations and modes of communication.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Add individual(s) to your gig team in Workday.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sz="1050" dirty="0">
              <a:latin typeface="+mj-lt"/>
            </a:endParaRP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sz="1050" dirty="0">
              <a:latin typeface="+mj-lt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508F9E-3A58-4ACE-9E78-84F1897C08EA}"/>
              </a:ext>
            </a:extLst>
          </p:cNvPr>
          <p:cNvGrpSpPr/>
          <p:nvPr/>
        </p:nvGrpSpPr>
        <p:grpSpPr>
          <a:xfrm>
            <a:off x="196202" y="1396690"/>
            <a:ext cx="1323974" cy="688249"/>
            <a:chOff x="447676" y="945934"/>
            <a:chExt cx="1808413" cy="86402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87AEF71-07E1-406E-A16A-416AABFB3F17}"/>
                </a:ext>
              </a:extLst>
            </p:cNvPr>
            <p:cNvSpPr/>
            <p:nvPr/>
          </p:nvSpPr>
          <p:spPr>
            <a:xfrm>
              <a:off x="447676" y="1352755"/>
              <a:ext cx="1808413" cy="457200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j-lt"/>
                </a:rPr>
                <a:t>Host Creates Gig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D6BD5FC-1794-48B6-B668-3C016337538B}"/>
                </a:ext>
              </a:extLst>
            </p:cNvPr>
            <p:cNvSpPr/>
            <p:nvPr/>
          </p:nvSpPr>
          <p:spPr>
            <a:xfrm>
              <a:off x="1123283" y="945934"/>
              <a:ext cx="457200" cy="45720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+mj-lt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FF2392-EB52-4FA7-ABBE-789BBEB065B1}"/>
              </a:ext>
            </a:extLst>
          </p:cNvPr>
          <p:cNvGrpSpPr/>
          <p:nvPr/>
        </p:nvGrpSpPr>
        <p:grpSpPr>
          <a:xfrm>
            <a:off x="1588122" y="1396689"/>
            <a:ext cx="1323974" cy="688896"/>
            <a:chOff x="2571882" y="942241"/>
            <a:chExt cx="1808413" cy="86279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101DDD7-DD00-4173-8E95-0F6D06E5A5B7}"/>
                </a:ext>
              </a:extLst>
            </p:cNvPr>
            <p:cNvSpPr/>
            <p:nvPr/>
          </p:nvSpPr>
          <p:spPr>
            <a:xfrm>
              <a:off x="2571882" y="1347835"/>
              <a:ext cx="1808413" cy="457200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  <a:latin typeface="+mj-lt"/>
                </a:rPr>
                <a:t>TM Requests Participation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C860BE-9718-4AA0-BD94-B9833BF13B02}"/>
                </a:ext>
              </a:extLst>
            </p:cNvPr>
            <p:cNvSpPr/>
            <p:nvPr/>
          </p:nvSpPr>
          <p:spPr>
            <a:xfrm>
              <a:off x="3247488" y="942241"/>
              <a:ext cx="457200" cy="457200"/>
            </a:xfrm>
            <a:prstGeom prst="ellipse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+mj-lt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D5D8CF-C2F3-4975-89CC-D26F9207BCAA}"/>
              </a:ext>
            </a:extLst>
          </p:cNvPr>
          <p:cNvGrpSpPr/>
          <p:nvPr/>
        </p:nvGrpSpPr>
        <p:grpSpPr>
          <a:xfrm>
            <a:off x="2981106" y="1375731"/>
            <a:ext cx="1406927" cy="714180"/>
            <a:chOff x="4598140" y="934508"/>
            <a:chExt cx="1808413" cy="87456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6807A4A-28E3-4D5C-88B1-20D2B697E456}"/>
                </a:ext>
              </a:extLst>
            </p:cNvPr>
            <p:cNvSpPr/>
            <p:nvPr/>
          </p:nvSpPr>
          <p:spPr>
            <a:xfrm>
              <a:off x="4598140" y="1351874"/>
              <a:ext cx="1808413" cy="457200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+mj-lt"/>
                </a:rPr>
                <a:t>Leader Notification 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A76907F-2841-4BDE-9D66-840F0CCEA5E5}"/>
                </a:ext>
              </a:extLst>
            </p:cNvPr>
            <p:cNvSpPr/>
            <p:nvPr/>
          </p:nvSpPr>
          <p:spPr>
            <a:xfrm>
              <a:off x="5251509" y="934508"/>
              <a:ext cx="457200" cy="457200"/>
            </a:xfrm>
            <a:prstGeom prst="ellips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+mj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09DBBB-2E52-4029-8182-34ECB5823EB4}"/>
              </a:ext>
            </a:extLst>
          </p:cNvPr>
          <p:cNvGrpSpPr/>
          <p:nvPr/>
        </p:nvGrpSpPr>
        <p:grpSpPr>
          <a:xfrm>
            <a:off x="4456701" y="1407218"/>
            <a:ext cx="1424444" cy="683733"/>
            <a:chOff x="6820294" y="969929"/>
            <a:chExt cx="1808413" cy="83510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9721C62-57D8-41C9-97B9-1E8CCFF7DF76}"/>
                </a:ext>
              </a:extLst>
            </p:cNvPr>
            <p:cNvSpPr/>
            <p:nvPr/>
          </p:nvSpPr>
          <p:spPr>
            <a:xfrm>
              <a:off x="6820294" y="1347835"/>
              <a:ext cx="1808413" cy="45720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+mj-lt"/>
                </a:rPr>
                <a:t>Host Receives Notification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12EBE75-D83A-45DC-97F5-935AE6E684C2}"/>
                </a:ext>
              </a:extLst>
            </p:cNvPr>
            <p:cNvSpPr/>
            <p:nvPr/>
          </p:nvSpPr>
          <p:spPr>
            <a:xfrm>
              <a:off x="7510762" y="969929"/>
              <a:ext cx="457200" cy="430863"/>
            </a:xfrm>
            <a:prstGeom prst="ellipse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+mj-lt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A69ADF1-815B-438A-BF5A-B768D99A320F}"/>
              </a:ext>
            </a:extLst>
          </p:cNvPr>
          <p:cNvGrpSpPr/>
          <p:nvPr/>
        </p:nvGrpSpPr>
        <p:grpSpPr>
          <a:xfrm>
            <a:off x="5977188" y="1396689"/>
            <a:ext cx="1424444" cy="688249"/>
            <a:chOff x="6820294" y="969929"/>
            <a:chExt cx="1808413" cy="835106"/>
          </a:xfrm>
          <a:solidFill>
            <a:srgbClr val="ABAFAC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43B760B-1175-4B1E-8074-64A31646E04B}"/>
                </a:ext>
              </a:extLst>
            </p:cNvPr>
            <p:cNvSpPr/>
            <p:nvPr/>
          </p:nvSpPr>
          <p:spPr>
            <a:xfrm>
              <a:off x="6820294" y="1347835"/>
              <a:ext cx="1808413" cy="457200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  <a:latin typeface="+mj-lt"/>
                </a:rPr>
                <a:t>Gig Concludes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D7DE5C0-F328-4A5B-B4E7-597D6B61FA08}"/>
                </a:ext>
              </a:extLst>
            </p:cNvPr>
            <p:cNvSpPr/>
            <p:nvPr/>
          </p:nvSpPr>
          <p:spPr>
            <a:xfrm>
              <a:off x="7510762" y="969929"/>
              <a:ext cx="457200" cy="430863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+mj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947A23D-8EDA-40DD-9A86-012C43F18B29}"/>
              </a:ext>
            </a:extLst>
          </p:cNvPr>
          <p:cNvGrpSpPr/>
          <p:nvPr/>
        </p:nvGrpSpPr>
        <p:grpSpPr>
          <a:xfrm>
            <a:off x="7474903" y="1396689"/>
            <a:ext cx="1323974" cy="688250"/>
            <a:chOff x="447676" y="945934"/>
            <a:chExt cx="1808413" cy="86402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DA6B83F-C425-4478-BD95-EA8A0BCAA6E2}"/>
                </a:ext>
              </a:extLst>
            </p:cNvPr>
            <p:cNvSpPr/>
            <p:nvPr/>
          </p:nvSpPr>
          <p:spPr>
            <a:xfrm>
              <a:off x="447676" y="1352754"/>
              <a:ext cx="1808413" cy="457202"/>
            </a:xfrm>
            <a:prstGeom prst="rect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accent3"/>
                  </a:solidFill>
                  <a:latin typeface="+mj-lt"/>
                </a:rPr>
                <a:t>Feedback Requested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FC10BA4-DEEF-4B52-BE86-B76953177432}"/>
                </a:ext>
              </a:extLst>
            </p:cNvPr>
            <p:cNvSpPr/>
            <p:nvPr/>
          </p:nvSpPr>
          <p:spPr>
            <a:xfrm>
              <a:off x="1123283" y="945934"/>
              <a:ext cx="457200" cy="45720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>
                <a:latin typeface="+mj-lt"/>
              </a:endParaRPr>
            </a:p>
          </p:txBody>
        </p:sp>
      </p:grpSp>
      <p:pic>
        <p:nvPicPr>
          <p:cNvPr id="66" name="Picture 9" descr="Check - Free maps and location icons">
            <a:extLst>
              <a:ext uri="{FF2B5EF4-FFF2-40B4-BE49-F238E27FC236}">
                <a16:creationId xmlns:a16="http://schemas.microsoft.com/office/drawing/2014/main" id="{D8C17331-F27B-4AF9-8905-6283B81BC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196" y="1479200"/>
            <a:ext cx="210140" cy="210140"/>
          </a:xfrm>
          <a:prstGeom prst="rect">
            <a:avLst/>
          </a:prstGeom>
          <a:ln>
            <a:solidFill>
              <a:srgbClr val="D8583E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68" name="Content Placeholder 4">
            <a:extLst>
              <a:ext uri="{FF2B5EF4-FFF2-40B4-BE49-F238E27FC236}">
                <a16:creationId xmlns:a16="http://schemas.microsoft.com/office/drawing/2014/main" id="{6AAE0787-2BBB-4159-8E92-AFF1CD14F3C5}"/>
              </a:ext>
            </a:extLst>
          </p:cNvPr>
          <p:cNvSpPr txBox="1">
            <a:spLocks/>
          </p:cNvSpPr>
          <p:nvPr/>
        </p:nvSpPr>
        <p:spPr>
          <a:xfrm>
            <a:off x="5968232" y="2180414"/>
            <a:ext cx="1411856" cy="16317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228594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85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457189" indent="-228594" algn="l" defTabSz="914377" rtl="0" eaLnBrk="1" latinLnBrk="0" hangingPunct="1">
              <a:lnSpc>
                <a:spcPct val="100000"/>
              </a:lnSpc>
              <a:spcBef>
                <a:spcPts val="267"/>
              </a:spcBef>
              <a:spcAft>
                <a:spcPts val="400"/>
              </a:spcAft>
              <a:buSzPct val="85000"/>
              <a:buFont typeface="Wingdings" pitchFamily="2" charset="2"/>
              <a:buChar char="§"/>
              <a:defRPr sz="1467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685783" indent="-228594" algn="l" defTabSz="914377" rtl="0" eaLnBrk="1" latinLnBrk="0" hangingPunct="1">
              <a:lnSpc>
                <a:spcPct val="100000"/>
              </a:lnSpc>
              <a:spcBef>
                <a:spcPts val="267"/>
              </a:spcBef>
              <a:spcAft>
                <a:spcPts val="400"/>
              </a:spcAft>
              <a:buSzPct val="85000"/>
              <a:buFont typeface="Wingdings" pitchFamily="2" charset="2"/>
              <a:buChar char="§"/>
              <a:defRPr sz="1333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914377" indent="-228594" algn="l" defTabSz="914377" rtl="0" eaLnBrk="1" latinLnBrk="0" hangingPunct="1">
              <a:lnSpc>
                <a:spcPct val="100000"/>
              </a:lnSpc>
              <a:spcBef>
                <a:spcPts val="267"/>
              </a:spcBef>
              <a:spcAft>
                <a:spcPts val="400"/>
              </a:spcAft>
              <a:buSzPct val="85000"/>
              <a:buFont typeface="Wingdings" pitchFamily="2" charset="2"/>
              <a:buChar char="§"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Host closes gig in Workday.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After assignment is completed, team member, leader, &amp; gig host should meet to discuss learnings, opportunities for improvement, and other topics of interest.</a:t>
            </a:r>
          </a:p>
        </p:txBody>
      </p:sp>
      <p:pic>
        <p:nvPicPr>
          <p:cNvPr id="52" name="Graphic 51" descr="Work from home desk with solid fill">
            <a:extLst>
              <a:ext uri="{FF2B5EF4-FFF2-40B4-BE49-F238E27FC236}">
                <a16:creationId xmlns:a16="http://schemas.microsoft.com/office/drawing/2014/main" id="{CCF364CD-4B5C-4179-8C8A-B2E7710605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188" y="1420707"/>
            <a:ext cx="294675" cy="294675"/>
          </a:xfrm>
          <a:prstGeom prst="rect">
            <a:avLst/>
          </a:prstGeom>
        </p:spPr>
      </p:pic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D742E601-5EC2-4E07-9193-6AE31FCDC731}"/>
              </a:ext>
            </a:extLst>
          </p:cNvPr>
          <p:cNvSpPr txBox="1">
            <a:spLocks/>
          </p:cNvSpPr>
          <p:nvPr/>
        </p:nvSpPr>
        <p:spPr>
          <a:xfrm>
            <a:off x="222923" y="2178918"/>
            <a:ext cx="1323974" cy="16317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3429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51435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6858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Identifies assignment summary, deliverables, &amp; qualifications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Sets clear expectations.</a:t>
            </a:r>
          </a:p>
        </p:txBody>
      </p:sp>
      <p:pic>
        <p:nvPicPr>
          <p:cNvPr id="65" name="Graphic 64" descr="Office worker female with solid fill">
            <a:extLst>
              <a:ext uri="{FF2B5EF4-FFF2-40B4-BE49-F238E27FC236}">
                <a16:creationId xmlns:a16="http://schemas.microsoft.com/office/drawing/2014/main" id="{42D374A5-865E-4C16-ACBF-4DA870E45B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11122" y="1441062"/>
            <a:ext cx="274320" cy="27432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663F18A-1AB3-4FEF-A2E7-FF6A2E5AE00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8740" t="15068" r="8872" b="33930"/>
          <a:stretch/>
        </p:blipFill>
        <p:spPr>
          <a:xfrm>
            <a:off x="3459751" y="1460738"/>
            <a:ext cx="320968" cy="216186"/>
          </a:xfrm>
          <a:prstGeom prst="rect">
            <a:avLst/>
          </a:prstGeom>
        </p:spPr>
      </p:pic>
      <p:pic>
        <p:nvPicPr>
          <p:cNvPr id="69" name="Picture 12" descr="The Receipt Is Received Svg Png Icon Free Download (#387728) -  OnlineWebFonts.COM">
            <a:extLst>
              <a:ext uri="{FF2B5EF4-FFF2-40B4-BE49-F238E27FC236}">
                <a16:creationId xmlns:a16="http://schemas.microsoft.com/office/drawing/2014/main" id="{F7471598-44CD-4A4D-AAE0-D7580A5A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781" y="1453981"/>
            <a:ext cx="250669" cy="23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E8D80376-7F68-40E7-9C28-F0E6447BE65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36024" y="2203813"/>
            <a:ext cx="1420812" cy="1631950"/>
          </a:xfrm>
          <a:ln>
            <a:noFill/>
          </a:ln>
        </p:spPr>
        <p:txBody>
          <a:bodyPr/>
          <a:lstStyle/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Reviews notification that Team member is requesting to participate in gig work.</a:t>
            </a:r>
            <a:endParaRPr lang="en-US" sz="1050" dirty="0">
              <a:latin typeface="+mj-lt"/>
            </a:endParaRP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1CDE10B9-EF84-4C7D-9786-6C0D9D7F9B8C}"/>
              </a:ext>
            </a:extLst>
          </p:cNvPr>
          <p:cNvSpPr txBox="1">
            <a:spLocks/>
          </p:cNvSpPr>
          <p:nvPr/>
        </p:nvSpPr>
        <p:spPr>
          <a:xfrm>
            <a:off x="7481279" y="2186374"/>
            <a:ext cx="1323974" cy="163178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3429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1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51435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1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685800" indent="-17145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SzPct val="85000"/>
              <a:buFont typeface="Wingdings" pitchFamily="2" charset="2"/>
              <a:buChar char="§"/>
              <a:defRPr sz="9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Host provides feedback on gig participant.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Participant provides feedback on host &amp; gig experience.</a:t>
            </a:r>
          </a:p>
          <a:p>
            <a:pPr marL="117472" indent="-117472">
              <a:spcBef>
                <a:spcPts val="0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+mj-lt"/>
              </a:rPr>
              <a:t>This can be completed using the Workday feedback tool or outside of the system.</a:t>
            </a:r>
          </a:p>
        </p:txBody>
      </p:sp>
      <p:pic>
        <p:nvPicPr>
          <p:cNvPr id="26" name="Graphic 25" descr="Open envelope with solid fill">
            <a:extLst>
              <a:ext uri="{FF2B5EF4-FFF2-40B4-BE49-F238E27FC236}">
                <a16:creationId xmlns:a16="http://schemas.microsoft.com/office/drawing/2014/main" id="{DFACC08D-E7F1-42C2-BECB-43D8CCC3A0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40531" y="1420908"/>
            <a:ext cx="282026" cy="2820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B0E572-73D0-5153-7322-8209087540AA}"/>
              </a:ext>
            </a:extLst>
          </p:cNvPr>
          <p:cNvSpPr/>
          <p:nvPr/>
        </p:nvSpPr>
        <p:spPr>
          <a:xfrm>
            <a:off x="3341077" y="44641"/>
            <a:ext cx="2491154" cy="209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5720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hc9CnKbE6qnaZ70bpKw_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I9jMzPg95JOac4icocS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shkosh 2019">
  <a:themeElements>
    <a:clrScheme name="Oshkosh">
      <a:dk1>
        <a:srgbClr val="000000"/>
      </a:dk1>
      <a:lt1>
        <a:srgbClr val="FFFFFF"/>
      </a:lt1>
      <a:dk2>
        <a:srgbClr val="363A36"/>
      </a:dk2>
      <a:lt2>
        <a:srgbClr val="F3F3ED"/>
      </a:lt2>
      <a:accent1>
        <a:srgbClr val="92BAC8"/>
      </a:accent1>
      <a:accent2>
        <a:srgbClr val="ABAFAC"/>
      </a:accent2>
      <a:accent3>
        <a:srgbClr val="222A27"/>
      </a:accent3>
      <a:accent4>
        <a:srgbClr val="AA9767"/>
      </a:accent4>
      <a:accent5>
        <a:srgbClr val="D9583E"/>
      </a:accent5>
      <a:accent6>
        <a:srgbClr val="F1A844"/>
      </a:accent6>
      <a:hlink>
        <a:srgbClr val="A2C6D2"/>
      </a:hlink>
      <a:folHlink>
        <a:srgbClr val="A2C6D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solidFill>
            <a:schemeClr val="tx1"/>
          </a:solidFill>
        </a:ln>
      </a:spPr>
      <a:bodyPr rtlCol="0" anchor="ctr"/>
      <a:lstStyle>
        <a:defPPr marL="0" indent="0" algn="ctr">
          <a:buFont typeface="Arial" panose="020B0604020202020204" pitchFamily="34" charset="0"/>
          <a:buNone/>
          <a:defRPr sz="1200" dirty="0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0" indent="0" algn="l">
          <a:buFont typeface="Arial" panose="020B0604020202020204" pitchFamily="34" charset="0"/>
          <a:buNone/>
          <a:defRPr sz="12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hkosh_PPT_Template_2019_Calibri_v2" id="{B31275EF-5C88-FC46-8745-36840DEBCEEC}" vid="{510854B9-0056-F74E-98DA-921370501A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2B126AF9B58C42BC7FF115C57901BE" ma:contentTypeVersion="7" ma:contentTypeDescription="Create a new document." ma:contentTypeScope="" ma:versionID="da3a294d57fa99f18e7619a93f7fbc21">
  <xsd:schema xmlns:xsd="http://www.w3.org/2001/XMLSchema" xmlns:xs="http://www.w3.org/2001/XMLSchema" xmlns:p="http://schemas.microsoft.com/office/2006/metadata/properties" xmlns:ns2="449b9586-d0d0-4ca7-b715-d4b7258f9992" targetNamespace="http://schemas.microsoft.com/office/2006/metadata/properties" ma:root="true" ma:fieldsID="59aac986316b9c83baf13c361ae84fef" ns2:_="">
    <xsd:import namespace="449b9586-d0d0-4ca7-b715-d4b7258f99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9b9586-d0d0-4ca7-b715-d4b7258f99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AFFD4E-E480-4B88-9CB1-AAD3DB709299}">
  <ds:schemaRefs>
    <ds:schemaRef ds:uri="ac6191e0-1e4d-4a3d-981d-7dfe112f5645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2c57d11-91a2-461a-a67c-5ad040e4428b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852B63E-F92C-4053-980D-25A0995401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76B674-77EE-471A-8036-11C2CEB927F8}"/>
</file>

<file path=docProps/app.xml><?xml version="1.0" encoding="utf-8"?>
<Properties xmlns="http://schemas.openxmlformats.org/officeDocument/2006/extended-properties" xmlns:vt="http://schemas.openxmlformats.org/officeDocument/2006/docPropsVTypes">
  <Template>Oshkosh 2019</Template>
  <TotalTime>384</TotalTime>
  <Words>440</Words>
  <Application>Microsoft Office PowerPoint</Application>
  <PresentationFormat>On-screen Show (16:9)</PresentationFormat>
  <Paragraphs>63</Paragraphs>
  <Slides>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Oshkosh 2019</vt:lpstr>
      <vt:lpstr>think-cell Slide</vt:lpstr>
      <vt:lpstr>Workday Career Hub Internal Gigs </vt:lpstr>
      <vt:lpstr>PowerPoint Presentation</vt:lpstr>
      <vt:lpstr>PowerPoint Presentation</vt:lpstr>
      <vt:lpstr>Gig Process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this template</dc:title>
  <dc:creator>Inga Bergman</dc:creator>
  <cp:lastModifiedBy>Liz Hoelzel</cp:lastModifiedBy>
  <cp:revision>4</cp:revision>
  <dcterms:created xsi:type="dcterms:W3CDTF">2019-07-09T15:21:23Z</dcterms:created>
  <dcterms:modified xsi:type="dcterms:W3CDTF">2023-04-05T16:18:41Z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994447-1ba5-4609-ae08-e5bd252dd33f_Enabled">
    <vt:lpwstr>True</vt:lpwstr>
  </property>
  <property fmtid="{D5CDD505-2E9C-101B-9397-08002B2CF9AE}" pid="3" name="MSIP_Label_36994447-1ba5-4609-ae08-e5bd252dd33f_SiteId">
    <vt:lpwstr>1d844aaf-abdd-4241-8239-4a5e7b69a3e0</vt:lpwstr>
  </property>
  <property fmtid="{D5CDD505-2E9C-101B-9397-08002B2CF9AE}" pid="4" name="MSIP_Label_36994447-1ba5-4609-ae08-e5bd252dd33f_Owner">
    <vt:lpwstr>265823@oshkoshglobal.com</vt:lpwstr>
  </property>
  <property fmtid="{D5CDD505-2E9C-101B-9397-08002B2CF9AE}" pid="5" name="MSIP_Label_36994447-1ba5-4609-ae08-e5bd252dd33f_SetDate">
    <vt:lpwstr>2019-07-21T12:14:28.9790750Z</vt:lpwstr>
  </property>
  <property fmtid="{D5CDD505-2E9C-101B-9397-08002B2CF9AE}" pid="6" name="MSIP_Label_36994447-1ba5-4609-ae08-e5bd252dd33f_Name">
    <vt:lpwstr>Restricted</vt:lpwstr>
  </property>
  <property fmtid="{D5CDD505-2E9C-101B-9397-08002B2CF9AE}" pid="7" name="MSIP_Label_36994447-1ba5-4609-ae08-e5bd252dd33f_Application">
    <vt:lpwstr>Microsoft Azure Information Protection</vt:lpwstr>
  </property>
  <property fmtid="{D5CDD505-2E9C-101B-9397-08002B2CF9AE}" pid="8" name="MSIP_Label_36994447-1ba5-4609-ae08-e5bd252dd33f_Extended_MSFT_Method">
    <vt:lpwstr>Automatic</vt:lpwstr>
  </property>
  <property fmtid="{D5CDD505-2E9C-101B-9397-08002B2CF9AE}" pid="9" name="MSIP_Label_9416ae3b-2779-4e2c-b50c-f09de060677f_Enabled">
    <vt:lpwstr>True</vt:lpwstr>
  </property>
  <property fmtid="{D5CDD505-2E9C-101B-9397-08002B2CF9AE}" pid="10" name="MSIP_Label_9416ae3b-2779-4e2c-b50c-f09de060677f_SiteId">
    <vt:lpwstr>1d844aaf-abdd-4241-8239-4a5e7b69a3e0</vt:lpwstr>
  </property>
  <property fmtid="{D5CDD505-2E9C-101B-9397-08002B2CF9AE}" pid="11" name="MSIP_Label_9416ae3b-2779-4e2c-b50c-f09de060677f_Owner">
    <vt:lpwstr>265823@oshkoshglobal.com</vt:lpwstr>
  </property>
  <property fmtid="{D5CDD505-2E9C-101B-9397-08002B2CF9AE}" pid="12" name="MSIP_Label_9416ae3b-2779-4e2c-b50c-f09de060677f_SetDate">
    <vt:lpwstr>2019-07-21T12:14:28.9790750Z</vt:lpwstr>
  </property>
  <property fmtid="{D5CDD505-2E9C-101B-9397-08002B2CF9AE}" pid="13" name="MSIP_Label_9416ae3b-2779-4e2c-b50c-f09de060677f_Name">
    <vt:lpwstr>Visual Marking - YES</vt:lpwstr>
  </property>
  <property fmtid="{D5CDD505-2E9C-101B-9397-08002B2CF9AE}" pid="14" name="MSIP_Label_9416ae3b-2779-4e2c-b50c-f09de060677f_Application">
    <vt:lpwstr>Microsoft Azure Information Protection</vt:lpwstr>
  </property>
  <property fmtid="{D5CDD505-2E9C-101B-9397-08002B2CF9AE}" pid="15" name="MSIP_Label_9416ae3b-2779-4e2c-b50c-f09de060677f_Parent">
    <vt:lpwstr>36994447-1ba5-4609-ae08-e5bd252dd33f</vt:lpwstr>
  </property>
  <property fmtid="{D5CDD505-2E9C-101B-9397-08002B2CF9AE}" pid="16" name="MSIP_Label_9416ae3b-2779-4e2c-b50c-f09de060677f_Extended_MSFT_Method">
    <vt:lpwstr>Automatic</vt:lpwstr>
  </property>
  <property fmtid="{D5CDD505-2E9C-101B-9397-08002B2CF9AE}" pid="17" name="ContentTypeId">
    <vt:lpwstr>0x010100162B126AF9B58C42BC7FF115C57901BE</vt:lpwstr>
  </property>
  <property fmtid="{D5CDD505-2E9C-101B-9397-08002B2CF9AE}" pid="18" name="MSIP_Label_ff462120-e871-4f1d-84ea-7289b5fdd404_Enabled">
    <vt:lpwstr>true</vt:lpwstr>
  </property>
  <property fmtid="{D5CDD505-2E9C-101B-9397-08002B2CF9AE}" pid="19" name="MSIP_Label_ff462120-e871-4f1d-84ea-7289b5fdd404_SetDate">
    <vt:lpwstr>2022-04-28T18:58:36Z</vt:lpwstr>
  </property>
  <property fmtid="{D5CDD505-2E9C-101B-9397-08002B2CF9AE}" pid="20" name="MSIP_Label_ff462120-e871-4f1d-84ea-7289b5fdd404_Method">
    <vt:lpwstr>Standard</vt:lpwstr>
  </property>
  <property fmtid="{D5CDD505-2E9C-101B-9397-08002B2CF9AE}" pid="21" name="MSIP_Label_ff462120-e871-4f1d-84ea-7289b5fdd404_Name">
    <vt:lpwstr>Restricted - Visual Marking - YES</vt:lpwstr>
  </property>
  <property fmtid="{D5CDD505-2E9C-101B-9397-08002B2CF9AE}" pid="22" name="MSIP_Label_ff462120-e871-4f1d-84ea-7289b5fdd404_SiteId">
    <vt:lpwstr>a84d585b-574d-4eb7-be2a-eaea93ef7b1f</vt:lpwstr>
  </property>
  <property fmtid="{D5CDD505-2E9C-101B-9397-08002B2CF9AE}" pid="23" name="MSIP_Label_ff462120-e871-4f1d-84ea-7289b5fdd404_ActionId">
    <vt:lpwstr>4e087468-ff41-4aba-93a5-84f64cb54cf8</vt:lpwstr>
  </property>
  <property fmtid="{D5CDD505-2E9C-101B-9397-08002B2CF9AE}" pid="24" name="MSIP_Label_ff462120-e871-4f1d-84ea-7289b5fdd404_ContentBits">
    <vt:lpwstr>1</vt:lpwstr>
  </property>
</Properties>
</file>